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morning/afternoon. Today, Devansh Gawali and I, Jay Thakare, present our CA3 mini-project on Explainable Machine Learning for Alzheimer's Disease Classification Using Structural MRI and Clinical Features. Our goal is to build an accurate, transparent, and leakage-free diagnostic system that clinicians can understand and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Alzheimer's is a massive global crisis. Macroscopic brain changes happen years before obvious memory failure. While MRI and MMSE tests exist, manual evaluation has bottlenecks. Automated AI has high potential, but black-box models cannot be safely adopted in clinical neurology without explainability.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end-to-end pipeline: We take raw OASIS-1 data, filter to the 235 evaluated subjects, perform a participant-level 80/20 train/test split to guarantee zero leakage, fit imputation and scaling on train only, train 6 classifiers, aggregate top models into a soft-voting ensemble, and compute SHAP explanations.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left, the ROC curves show that Gradient Boosting and Ensemble reach an outstanding 0.943 AUC. On the right, our ablation study proves that multimodal fusion delivers a huge +12.77% gain over MRI alone and +2.13% over clinical tests alone, proving both modalities are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our SHAP findings: Globally, MMSE cognitive decline and normalized whole brain volume loss (nWBV) are the top two drivers of dementia classification. On the right, our local patient waterfall shows how a specific patient with low MMSE and severe brain atrophy was classified as dementia with 96%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our work proves that transparent, explainable machine learning combining cognitive screening and structural MRI delivers high-accuracy dementia classification without expensive deep learning or data leakage. Thank you! We welcome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BUSINESS INTELLIGENCE &amp; MACHINE LEARNING MINI-PROJECT (CA3)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Explainable Machine Learning for Alzheimer’s Disease Classification Using Structural MRI and Clinical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91840"/>
            <a:ext cx="9875520" cy="2743200"/>
          </a:xfrm>
          <a:prstGeom prst="roundRect">
            <a:avLst/>
          </a:prstGeom>
          <a:solidFill>
            <a:srgbClr val="264673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326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Project Team Members: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Jay Thakare — PRN: 23070521233</a:t>
            </a:r>
            <a:br/>
            <a:r>
              <a:t>• Devansh Gawali — PRN: 23070521237</a:t>
            </a:r>
          </a:p>
          <a:p>
            <a:br/>
            <a:pPr>
              <a:defRPr sz="1200" b="1">
                <a:solidFill>
                  <a:srgbClr val="D4AF37"/>
                </a:solidFill>
              </a:defRPr>
            </a:pPr>
            <a:r>
              <a:t>Academic Institution: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Department of Computer Science &amp; Engineering</a:t>
            </a:r>
            <a:br/>
            <a:r>
              <a:t>Symbiosis Institute of Technology (SIT), Nagpur</a:t>
            </a:r>
            <a:br/>
            <a:r>
              <a:t>Symbiosis International (Deemed University), Pune,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1. CLINICAL CONTEXT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Background &amp; Clinical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Global Healthcare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Alzheimer's Disease (AD) accounts for 60%–80% of all global dementia cases.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Over 55 million individuals are currently affected, projected to reach 152 million by 2050.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Annual healthcare economic costs exceed $1.3 trillion globally.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Irreversible cerebral damage precedes overt functional symptoms by 5–15 years.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The Diagnostic Dilemma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Structural MRI (sMRI) captures macroscopic cerebral atrophy, ventricular enlargement, and hippocampal shrinkage.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Cognitive exams (MMSE) evaluate immediate recall and orientation.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Manual radiological review is labor-intensive, scarce in primary care, and suffers from inter-rater subjectivity in mild stages.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Need for automated, reliable clinical screening support.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The Explainability Imperative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Deep neural networks operate as uninterpretable 'black boxes', blocking clinical translation.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Medical AI requires actionable, biological justification for individual patient diagnoses.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Regulatory bodies (FDA, EU AI Act) mandate high transparency in automated medical decision systems.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Explainable AI (XAI) bridges the gap between predictive accuracy and clinical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2. RESEARCH FOCUS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Problem Statement &amp; Research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Core Research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Existing machine learning literature for Alzheimer's diagnosis exhibits three persistent vulnerabilities:</a:t>
            </a:r>
          </a:p>
          <a:p>
            <a:pPr>
              <a:defRPr sz="1150">
                <a:solidFill>
                  <a:srgbClr val="1E293B"/>
                </a:solidFill>
              </a:defRPr>
            </a:pP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1. Black-Box Opacity: Lack of patient-specific feature attribution prevents clinicians from verifying if decisions stem from genuine pathology or spurious noise.</a:t>
            </a:r>
          </a:p>
          <a:p>
            <a:pPr>
              <a:defRPr sz="1150">
                <a:solidFill>
                  <a:srgbClr val="1E293B"/>
                </a:solidFill>
              </a:defRPr>
            </a:pP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2. Widespread Data Leakage: Participant overlap across cross-validation splits and global pre-scaling artificially inflate reported scores by up to 25%.</a:t>
            </a:r>
          </a:p>
          <a:p>
            <a:pPr>
              <a:defRPr sz="1150">
                <a:solidFill>
                  <a:srgbClr val="1E293B"/>
                </a:solidFill>
              </a:defRPr>
            </a:pP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3. Computational Overhead: 3D deep learning models require heavy GPU clusters and lengthy registration pipelines impractical in resource-constrained clinics.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Key 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• Strict Leakage-Free Validation: Implement strict participant-level 80/20 holdout splitting and training-only preprocessor fitting.</a:t>
            </a:r>
          </a:p>
          <a:p>
            <a:pPr>
              <a:defRPr sz="1150">
                <a:solidFill>
                  <a:srgbClr val="1E293B"/>
                </a:solidFill>
              </a:defRPr>
            </a:pP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Multimodal Integration: Combine cognitive psychometrics (MMSE) with structural MRI volumetric morphometrics (nWBV, eTIV, ASF).</a:t>
            </a:r>
          </a:p>
          <a:p>
            <a:pPr>
              <a:defRPr sz="1150">
                <a:solidFill>
                  <a:srgbClr val="1E293B"/>
                </a:solidFill>
              </a:defRPr>
            </a:pP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Lightweight Ensemble Architecture: Benchmark 6 classifiers including a Soft-Voting Ensemble on standard commodity hardware.</a:t>
            </a:r>
          </a:p>
          <a:p>
            <a:pPr>
              <a:defRPr sz="1150">
                <a:solidFill>
                  <a:srgbClr val="1E293B"/>
                </a:solidFill>
              </a:defRPr>
            </a:pP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Post-Hoc Interpretability via SHAP: Unpack global biomarker importance and provide local waterfall patient explanations for clinical decision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3. STATE OF THE ART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Literature Review &amp; Research Gap (2021–2026)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40080"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Author &amp; Year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Dataset &amp; Modality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Models Evaluated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Key Findings &amp; Metrics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Limitations Addressed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Jahan et al. (2023) [PLOS ONE]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OASIS-3 Multimodal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Random Forest + SHAP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Multimodal fusion outperforms unimodal baselines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Addressed: Cross-modality feature trade-offs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Jahan et al. (2025) [IEEE Access]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OASIS-3 Multimodal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Federated Ensemble + SHAP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Decentralized interpretability preserves privacy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Addressed: Transparent clinical verification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Yagis et al. (2021) [Sci. Reports]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Brain MRI (ADNI/OASIS)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2D CNNs &amp; Classical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Scan/slice leakage inflates metrics by up to 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Addressed: Participant-level holdout partition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Shah et al. (2024) [Comp. Biol. Med.]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ADNI Structural MRI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3D ResNet vs Tree ML + SHAP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Tree-based SHAP exhibits higher consistency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Addressed: Transparent biomarker rankings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Jiang et al. (2024) [Front. Aging Neur.]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Structural MRI Morphometry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SVM, RF, XGBoost + SHAP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Cortical complexity strongly correlates with CDR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Addressed: Biological validation of XAI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080"/>
                </a:solidFill>
              </a:defRPr>
            </a:pPr>
            <a:r>
              <a:t>RESEARCH GAP IDENTIFIED: Despite high reported metrics in literature, few studies enforce strict participant-level leakage isolation on accessible OASIS cohorts while providing both global and local patient-level SHAP interpretability on lightweight, reproducible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4. DATA PROVENANCE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OASIS-1 Dataset &amp; Rigorous Data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OASIS-1 Cohort Audit (Actual Statistics)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Total Records in OASIS-1: 436 unique subjects.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Cohort Stratification: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- 201 Young Normal Controls (Ages 18–59, CDR = NaN).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- 235 Clinically Evaluated Older Adults (Ages 33–96).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Evaluated Cohort Diagnostic Breakdown (N = 235):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- Controls (CDR = 0.0): 135 subjects (57.45%)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- Dementia (CDR &gt; 0.0): 100 subjects (42.55%)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  * Very Mild Dementia (CDR = 0.5): 70 subjects (29.79%)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  * Mild Dementia (CDR = 1.0): 28 subjects (11.91%)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  * Moderate Dementia (CDR = 2.0): 2 subjects (0.85%)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Missing Data: 19 missing values in SES (Hollingshead Index), imputed via training median. Zero missing values in MRI features.</a:t>
            </a:r>
          </a:p>
        </p:txBody>
      </p:sp>
      <p:pic>
        <p:nvPicPr>
          <p:cNvPr id="8" name="Picture 7" descr="datas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394960" cy="20492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5. EXPERIMENTAL PIPELINE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Proposed Methodology Architecture</a:t>
            </a:r>
          </a:p>
        </p:txBody>
      </p:sp>
      <p:pic>
        <p:nvPicPr>
          <p:cNvPr id="5" name="Picture 4" descr="methodology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6. DATA PREPARATION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MRI Preprocessing &amp; Feature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Leakage-Free Preprocessing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Participant-Level Partitioning: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- 80% Training Cohort: N = 188 (108 Controls, 80 Dementia)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- 20% Held-Out Test Cohort: N = 47 (27 Controls, 20 Dementia)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S_train ∩ S_test = ∅ (Strict zero subject overlap).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scikit-learn ColumnTransformer Pipeline: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Imputation: Median for numerical SES, Mode for categorical M/F.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Scaling: StandardScaler z-score fitted ONLY on training set.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Categorical: OneHotEncoder(drop='first') fitted on training set.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Non-Predictive Column Exclusion: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'ID', 'Hand' (all Right-handed), 'Delay' (all NaN) removed.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Extracted Multimodal Feature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1. Clinical &amp; Demographic Features (5 Variables):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• MMSE (0–30): Primary cognitive screening test score.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• Age (33–96): Primary demographic risk factor.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• M/F: Biological gender (Male / Female).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• Educ (1–5): Educational attainment level.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• SES (1–5): Hollingshead Socioeconomic Status.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2. Structural MRI Morphometrics (3 Variables):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• nWBV (0.64–0.85): Normalized Whole Brain Volume (brain tissue ratio; primary indicator of cerebral atrophy).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• eTIV (1123–1992 mm³): Estimated Total Intracranial Volume.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• ASF (0.88–1.56): Atlas Scaling Factor to Talairach standard.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7. MODEL DESIGN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Classification Models &amp; Ensemble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7548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Evaluated Classification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Dummy Classifier (Baseline):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Majority class prediction; defines empirical performance floor.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Logistic Regression (LR):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Linear probabilistic classifier with L2 regularization penalty.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Random Forest (RF):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100 bagged decorrelated decision trees (depth=5, split=4).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Support Vector Machine (SVM):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RBF kernel with Platt-scaled calibrated posterior probabilities.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Gradient Boosting (GB):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100 sequential residual regression trees (lr=0.1, depth=3).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Soft-Voting Ensemble: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Weighted consensus: P = (1·P_LR + 2·P_RF + 2·P_GB) / 5.</a:t>
            </a:r>
          </a:p>
        </p:txBody>
      </p:sp>
      <p:pic>
        <p:nvPicPr>
          <p:cNvPr id="8" name="Picture 7" descr="model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28086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8. INTERPRETABILITY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Explainable AI Using SHAP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Game-Theoretic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SHapley Additive exPlanations (SHAP) is grounded in cooperative game theory.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Fairly allocates model prediction credit across all features via marginal contributions: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φ_i = Σ [|S|!(|F|-|S|-1)! / |F|!] · [f(S ∪ {i}) - f(S)]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Satisfies key axioms: Efficiency, Symmetry, Dummy player, and Additivity.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Global Interpretability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Ranks overall biomarker influence using mean absolute SHAP values across test cohort.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Summary Beeswarm Plot reveals feature impact distributions and directional relationships.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Confirms whether model relies on biologically valid neurodegeneration or imaging artifacts.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Local Patient 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Waterfall Explanations decompose an individual patient's diagnostic risk score.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Base Value (expected population log-odds) shifts toward positive or negative prediction.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Provides clinical decision support by explicitly justifying why patient is classified as high-risk.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9. RIGOROUS SETUP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Experimental Setup &amp; Hyperparameters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3891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Hardware &amp; Software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Operating System: Windows 10/11 (AMD64 platform)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Python Runtime: Python 3.11.0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Core Libraries: scikit-learn 1.7.0, NumPy 2.x, pandas 2.x, SHAP 0.46.0, Matplotlib 3.10.0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Hardware: Intel Core i5 CPU, 16 GB RAM (No GPU required)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Execution Time: &lt; 15 seconds for full training, CV, testing, and SHAP generation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Reproducibility: Seed = 42 enforced across all splits and algorithms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Unit Testing: 7/7 pytest unit tests verified.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4960" y="1371600"/>
          <a:ext cx="60350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705394"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Classifier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Exact Hyperparameters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Optimization Objective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850"/>
                        <a:t>Dummy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strategy='most_frequent'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Class prior floor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850"/>
                        <a:t>Logistic Regression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C=1.0, solver='liblinear', max_iter=1000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L2 Cross-Entropy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850"/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n_estimators=100, max_depth=5, min_samples_split=4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Gini Impurity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850"/>
                        <a:t>Support Vector Machine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C=1.0, kernel='rbf', probability=True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Hinge Loss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850"/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n_estimators=100, lr=0.1, max_depth=3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Binomial Deviance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850"/>
                        <a:t>Soft Voting Ensemble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voting='soft', weights=[1, 2, 2]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Weighted Log-Loss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10. EMPIRICAL FINDINGS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Comparative Model Results (Held-Out Test Set, N=47)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337310"/>
                <a:gridCol w="1337310"/>
                <a:gridCol w="1337310"/>
                <a:gridCol w="1337310"/>
                <a:gridCol w="1337310"/>
                <a:gridCol w="1337310"/>
                <a:gridCol w="1337310"/>
              </a:tblGrid>
              <a:tr h="496388"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Recall (Sens)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Specificity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Bal. Acc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900"/>
                        <a:t>Dummy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57.45%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50.00%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900"/>
                        <a:t>Logistic Regression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78.72%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77.78%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70.00%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85.19%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73.68%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0.9056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77.59%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900"/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82.98%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83.33%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75.00%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88.89%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78.95%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0.9296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81.94%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900"/>
                        <a:t>Support Vector Machine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80.85%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78.95%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75.00%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85.19%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76.92%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0.9056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80.09%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900" b="1"/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85.11%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84.21%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80.00%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88.89%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82.05%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0.9426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84.44%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900" b="1"/>
                        <a:t>Soft Voting Ensemble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82.98%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83.33%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75.00%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88.89%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78.95%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0.9426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81.94%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080"/>
                </a:solidFill>
              </a:defRPr>
            </a:pPr>
            <a:r>
              <a:t>EMPIRICAL FINDINGS HIGHLIGHTS: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1. Gradient Boosting achieved top overall diagnostic accuracy (85.11%) and sensitivity/recall (80.00%), detecting 16 of 20 dementia cases.</a:t>
            </a:r>
            <a:br/>
            <a:r>
              <a:t>2. Soft-Voting Ensemble tied Gradient Boosting for top ROC-AUC (0.9426) with robust 88.89% specificity (identifying 24 of 27 healthy controls).</a:t>
            </a:r>
            <a:br/>
            <a:r>
              <a:t>3. All machine learning models achieved ROC-AUC &gt; 0.90, confirming strong discriminative separation under strict zero-leakage conditions.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11. DETAILED METRICS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Evaluation Visualizations &amp; Modality Ablation</a:t>
            </a:r>
          </a:p>
        </p:txBody>
      </p:sp>
      <p:pic>
        <p:nvPicPr>
          <p:cNvPr id="5" name="Picture 4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148367"/>
          </a:xfrm>
          <a:prstGeom prst="rect">
            <a:avLst/>
          </a:prstGeom>
        </p:spPr>
      </p:pic>
      <p:pic>
        <p:nvPicPr>
          <p:cNvPr id="6" name="Picture 5" descr="modality_comparis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19797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12. CLINICAL EXPLAINABILITY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Explainability Insights &amp; Patient Case Studies</a:t>
            </a:r>
          </a:p>
        </p:txBody>
      </p:sp>
      <p:pic>
        <p:nvPicPr>
          <p:cNvPr id="5" name="Picture 4" descr="shap_summary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035779"/>
          </a:xfrm>
          <a:prstGeom prst="rect">
            <a:avLst/>
          </a:prstGeom>
        </p:spPr>
      </p:pic>
      <p:pic>
        <p:nvPicPr>
          <p:cNvPr id="6" name="Picture 5" descr="shap_waterfall_demen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4937760" cy="30542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Arial"/>
              </a:defRPr>
            </a:pPr>
            <a:r>
              <a:t>13. SUMMARY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Conclusion, Future Work &amp; Selected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Summary of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Validated Lightweight Framework: Built a transparent multimodal ML system executing in seconds without GPU requirements.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Zero-Leakage Protocol: Enforced strict participant-level splitting and training-only transformer fitting.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High Diagnostic Power: Gradient Boosting achieved 85.11% accuracy, 80.0% recall, and 0.943 ROC-AUC.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Clinical Transparency: SHAP confirmed biological validity (MMSE + brain parenchymal volume loss nWBV).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Future Research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Regional Volumetric Segmentation: Integrate FreeSurfer subcortical volumetry (hippocampus and lateral ventricles).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Longitudinal Staging: Track Mild Cognitive Impairment (MCI) progression over multi-year timepoints using OASIS-2/3.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Multicenter Validation: Cross-evaluate on ADNI and AIBL cohorts.</a:t>
            </a:r>
          </a:p>
          <a:p>
            <a:pPr>
              <a:defRPr sz="1050">
                <a:solidFill>
                  <a:srgbClr val="1E293B"/>
                </a:solidFill>
              </a:defRPr>
            </a:pP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Federated Learning: Implement privacy-preserving decentralized learning across hospitals [Jahan et al., 2025].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Selected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t>1. Marcus et al., J. Cogn. Neurosci., 2007 (OASIS-1 Benchmark).</a:t>
            </a:r>
          </a:p>
          <a:p>
            <a:pPr>
              <a:defRPr sz="950">
                <a:solidFill>
                  <a:srgbClr val="1E293B"/>
                </a:solidFill>
              </a:defRPr>
            </a:pPr>
          </a:p>
          <a:p>
            <a:pPr>
              <a:defRPr sz="950">
                <a:solidFill>
                  <a:srgbClr val="1E293B"/>
                </a:solidFill>
              </a:defRPr>
            </a:pPr>
            <a:r>
              <a:t>2. Jahan et al., PLOS ONE, 2023 (Multimodal XAI Alzheimer's).</a:t>
            </a:r>
          </a:p>
          <a:p>
            <a:pPr>
              <a:defRPr sz="950">
                <a:solidFill>
                  <a:srgbClr val="1E293B"/>
                </a:solidFill>
              </a:defRPr>
            </a:pPr>
          </a:p>
          <a:p>
            <a:pPr>
              <a:defRPr sz="950">
                <a:solidFill>
                  <a:srgbClr val="1E293B"/>
                </a:solidFill>
              </a:defRPr>
            </a:pPr>
            <a:r>
              <a:t>3. Jahan et al., IEEE Access, 2025 (Federated XAI).</a:t>
            </a:r>
          </a:p>
          <a:p>
            <a:pPr>
              <a:defRPr sz="950">
                <a:solidFill>
                  <a:srgbClr val="1E293B"/>
                </a:solidFill>
              </a:defRPr>
            </a:pPr>
          </a:p>
          <a:p>
            <a:pPr>
              <a:defRPr sz="950">
                <a:solidFill>
                  <a:srgbClr val="1E293B"/>
                </a:solidFill>
              </a:defRPr>
            </a:pPr>
            <a:r>
              <a:t>4. Yagis et al., Sci. Reports, 2021 (Data Leakage in Brain MRI).</a:t>
            </a:r>
          </a:p>
          <a:p>
            <a:pPr>
              <a:defRPr sz="950">
                <a:solidFill>
                  <a:srgbClr val="1E293B"/>
                </a:solidFill>
              </a:defRPr>
            </a:pPr>
          </a:p>
          <a:p>
            <a:pPr>
              <a:defRPr sz="950">
                <a:solidFill>
                  <a:srgbClr val="1E293B"/>
                </a:solidFill>
              </a:defRPr>
            </a:pPr>
            <a:r>
              <a:t>5. Shah et al., Comp. Biol. Med., 2024 (XAI Explanations for AD).</a:t>
            </a:r>
          </a:p>
          <a:p>
            <a:pPr>
              <a:defRPr sz="950">
                <a:solidFill>
                  <a:srgbClr val="1E293B"/>
                </a:solidFill>
              </a:defRPr>
            </a:pPr>
          </a:p>
          <a:p>
            <a:pPr>
              <a:defRPr sz="950">
                <a:solidFill>
                  <a:srgbClr val="1E293B"/>
                </a:solidFill>
              </a:defRPr>
            </a:pPr>
            <a:r>
              <a:t>6. Jiang et al., Front. Aging Neur., 2024 (Brain Complexity XAI).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